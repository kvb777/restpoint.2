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xec-5d9ca318-fd87-47c1-a089-11ea3aa7fe4b.png"/>
          <p:cNvPicPr>
            <a:picLocks noChangeAspect="1"/>
          </p:cNvPicPr>
          <p:nvPr/>
        </p:nvPicPr>
        <p:blipFill>
          <a:blip r:embed="rId2"/>
          <a:srcRect l="21185" r="21185"/>
          <a:stretch>
            <a:fillRect/>
          </a:stretch>
        </p:blipFill>
        <p:spPr>
          <a:xfrm>
            <a:off x="5166360" y="0"/>
            <a:ext cx="702259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74920" y="0"/>
            <a:ext cx="310896" cy="6858000"/>
          </a:xfrm>
          <a:prstGeom prst="rect">
            <a:avLst/>
          </a:prstGeom>
          <a:solidFill>
            <a:srgbClr val="0B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43891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>
                <a:solidFill>
                  <a:srgbClr val="00A4D6"/>
                </a:solidFill>
                <a:latin typeface="Aptos"/>
              </a:rPr>
              <a:t>CIVIC TECH  /  RIDER WELFARE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4297680" cy="1325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3800" b="1">
                <a:solidFill>
                  <a:srgbClr val="FAFCFF"/>
                </a:solidFill>
                <a:latin typeface="Aptos"/>
              </a:rPr>
              <a:t>REST</a:t>
            </a:r>
            <a:br/>
            <a:r>
              <a:rPr sz="3800" b="1">
                <a:solidFill>
                  <a:srgbClr val="FAFCFF"/>
                </a:solidFill>
                <a:latin typeface="Aptos"/>
              </a:rPr>
              <a:t>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42032"/>
            <a:ext cx="448056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AFCFF"/>
                </a:solidFill>
                <a:latin typeface="Aptos"/>
              </a:rPr>
              <a:t>One live network for safe, nearby rest.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27248"/>
            <a:ext cx="4389120" cy="6858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>
                <a:solidFill>
                  <a:srgbClr val="D5E0EC"/>
                </a:solidFill>
                <a:latin typeface="Aptos"/>
              </a:rPr>
              <a:t>A cross-platform rest and heat-safety app for delivery riders across Abu Dhabi.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68112"/>
            <a:ext cx="128016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1">
                <a:solidFill>
                  <a:srgbClr val="FF6724"/>
                </a:solidFill>
                <a:latin typeface="Aptos"/>
              </a:rPr>
              <a:t>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132588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>
                <a:solidFill>
                  <a:srgbClr val="FAFCFF"/>
                </a:solidFill>
                <a:latin typeface="Aptos"/>
              </a:rPr>
              <a:t>Gig workers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39" y="5468112"/>
            <a:ext cx="128016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1">
                <a:solidFill>
                  <a:srgbClr val="FF6724"/>
                </a:solidFill>
                <a:latin typeface="Aptos"/>
              </a:rPr>
              <a:t>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39" y="5669280"/>
            <a:ext cx="132588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>
                <a:solidFill>
                  <a:srgbClr val="FAFCFF"/>
                </a:solidFill>
                <a:latin typeface="Aptos"/>
              </a:rPr>
              <a:t>Abu Dhabi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468112"/>
            <a:ext cx="128016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1">
                <a:solidFill>
                  <a:srgbClr val="FF6724"/>
                </a:solidFill>
                <a:latin typeface="Aptos"/>
              </a:rPr>
              <a:t>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669280"/>
            <a:ext cx="132588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>
                <a:solidFill>
                  <a:srgbClr val="FAFCFF"/>
                </a:solidFill>
                <a:latin typeface="Aptos"/>
              </a:rPr>
              <a:t>Safer shifts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28816"/>
            <a:ext cx="182880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1">
                <a:solidFill>
                  <a:srgbClr val="B4C3D4"/>
                </a:solidFill>
                <a:latin typeface="Aptos"/>
              </a:rPr>
              <a:t>REST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700" b="1">
                <a:solidFill>
                  <a:srgbClr val="FF6724"/>
                </a:solidFill>
                <a:latin typeface="Aptos"/>
              </a:rPr>
              <a:t>01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A145DDE-DF99-3F60-CC26-DE881C24B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220091"/>
            <a:ext cx="2374900" cy="2101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720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FF6724"/>
                </a:solidFill>
                <a:latin typeface="Aptos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00" b="1">
                <a:solidFill>
                  <a:srgbClr val="13233B"/>
                </a:solidFill>
                <a:latin typeface="Aptos"/>
              </a:rPr>
              <a:t>Heat risk rises when rest information stays fragmented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42416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5E6E84"/>
                </a:solidFill>
                <a:latin typeface="Aptos"/>
              </a:rPr>
              <a:t>Riders make safety decisions in minutes, often while switching between work apps.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6720840" cy="987552"/>
          </a:xfrm>
          <a:prstGeom prst="roundRect">
            <a:avLst/>
          </a:prstGeom>
          <a:solidFill>
            <a:srgbClr val="FAFC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64008" cy="987552"/>
          </a:xfrm>
          <a:prstGeom prst="roundRect">
            <a:avLst/>
          </a:prstGeom>
          <a:solidFill>
            <a:srgbClr val="FF6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6309359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400" b="1">
                <a:solidFill>
                  <a:srgbClr val="FF6724"/>
                </a:solidFill>
                <a:latin typeface="Aptos"/>
              </a:rPr>
              <a:t>45°C+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6309359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1">
                <a:solidFill>
                  <a:srgbClr val="13233B"/>
                </a:solidFill>
                <a:latin typeface="Aptos"/>
              </a:rPr>
              <a:t>Severe heat exposure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6309359" cy="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0">
                <a:solidFill>
                  <a:srgbClr val="5E6E84"/>
                </a:solidFill>
                <a:latin typeface="Aptos"/>
              </a:rPr>
              <a:t>Long shifts can extend through peak summer heat.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44952"/>
            <a:ext cx="6720840" cy="987552"/>
          </a:xfrm>
          <a:prstGeom prst="roundRect">
            <a:avLst/>
          </a:prstGeom>
          <a:solidFill>
            <a:srgbClr val="FAFC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3044952"/>
            <a:ext cx="64008" cy="987552"/>
          </a:xfrm>
          <a:prstGeom prst="roundRect">
            <a:avLst/>
          </a:prstGeom>
          <a:solidFill>
            <a:srgbClr val="00A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209544"/>
            <a:ext cx="6309359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400" b="1">
                <a:solidFill>
                  <a:srgbClr val="00A4D6"/>
                </a:solidFill>
                <a:latin typeface="Aptos"/>
              </a:rPr>
              <a:t>Many apps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6309359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1">
                <a:solidFill>
                  <a:srgbClr val="13233B"/>
                </a:solidFill>
                <a:latin typeface="Aptos"/>
              </a:rPr>
              <a:t>Scattered facility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959352"/>
            <a:ext cx="6309359" cy="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0">
                <a:solidFill>
                  <a:srgbClr val="5E6E84"/>
                </a:solidFill>
                <a:latin typeface="Aptos"/>
              </a:rPr>
              <a:t>Operator-specific information hides nearby public options.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06824"/>
            <a:ext cx="6720840" cy="987552"/>
          </a:xfrm>
          <a:prstGeom prst="roundRect">
            <a:avLst/>
          </a:prstGeom>
          <a:solidFill>
            <a:srgbClr val="FAFC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4306824"/>
            <a:ext cx="64008" cy="987552"/>
          </a:xfrm>
          <a:prstGeom prst="roundRect">
            <a:avLst/>
          </a:prstGeom>
          <a:solidFill>
            <a:srgbClr val="2BC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471416"/>
            <a:ext cx="6309359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400" b="1">
                <a:solidFill>
                  <a:srgbClr val="2BC797"/>
                </a:solidFill>
                <a:latin typeface="Aptos"/>
              </a:rPr>
              <a:t>Low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73752"/>
            <a:ext cx="6309359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1">
                <a:solidFill>
                  <a:srgbClr val="13233B"/>
                </a:solidFill>
                <a:latin typeface="Aptos"/>
              </a:rPr>
              <a:t>Unused public assets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221224"/>
            <a:ext cx="6309359" cy="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0">
                <a:solidFill>
                  <a:srgbClr val="5E6E84"/>
                </a:solidFill>
                <a:latin typeface="Aptos"/>
              </a:rPr>
              <a:t>Cooling hubs and shelters stay invisible to riders.</a:t>
            </a:r>
          </a:p>
        </p:txBody>
      </p:sp>
      <p:pic>
        <p:nvPicPr>
          <p:cNvPr id="21" name="Picture 20" descr="rider-avatar-1.png"/>
          <p:cNvPicPr>
            <a:picLocks noChangeAspect="1"/>
          </p:cNvPicPr>
          <p:nvPr/>
        </p:nvPicPr>
        <p:blipFill>
          <a:blip r:embed="rId2"/>
          <a:srcRect l="9713" r="9713"/>
          <a:stretch>
            <a:fillRect/>
          </a:stretch>
        </p:blipFill>
        <p:spPr>
          <a:xfrm>
            <a:off x="7790688" y="1344168"/>
            <a:ext cx="3337560" cy="4343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72400" y="5257800"/>
            <a:ext cx="333756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13233B"/>
                </a:solidFill>
                <a:latin typeface="Aptos"/>
              </a:rPr>
              <a:t>“Where can I cool down</a:t>
            </a:r>
            <a:br/>
            <a:r>
              <a:rPr sz="1600" b="1">
                <a:solidFill>
                  <a:srgbClr val="13233B"/>
                </a:solidFill>
                <a:latin typeface="Aptos"/>
              </a:rPr>
              <a:t>before the next pickup?”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28816"/>
            <a:ext cx="182880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1">
                <a:solidFill>
                  <a:srgbClr val="5E6E84"/>
                </a:solidFill>
                <a:latin typeface="Aptos"/>
              </a:rPr>
              <a:t>REST 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700" b="1">
                <a:solidFill>
                  <a:srgbClr val="FF6724"/>
                </a:solidFill>
                <a:latin typeface="Aptos"/>
              </a:rPr>
              <a:t>02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28A1C2D-F523-F7C2-5BFA-7E57C127F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990" y="73925"/>
            <a:ext cx="1931191" cy="17091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720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FF6724"/>
                </a:solidFill>
                <a:latin typeface="Aptos"/>
              </a:rPr>
              <a:t>RIDER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00" b="1">
                <a:solidFill>
                  <a:srgbClr val="13233B"/>
                </a:solidFill>
                <a:latin typeface="Aptos"/>
              </a:rPr>
              <a:t>Three behaviors shape 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42416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5E6E84"/>
                </a:solidFill>
                <a:latin typeface="Aptos"/>
              </a:rPr>
              <a:t>The interface must work during short breaks, under pressure, and across languages.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29000" cy="4069080"/>
          </a:xfrm>
          <a:prstGeom prst="roundRect">
            <a:avLst/>
          </a:prstGeom>
          <a:solidFill>
            <a:srgbClr val="F1F6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ider-avatar-1.png"/>
          <p:cNvPicPr>
            <a:picLocks noChangeAspect="1"/>
          </p:cNvPicPr>
          <p:nvPr/>
        </p:nvPicPr>
        <p:blipFill>
          <a:blip r:embed="rId2"/>
          <a:srcRect t="4642" b="4642"/>
          <a:stretch>
            <a:fillRect/>
          </a:stretch>
        </p:blipFill>
        <p:spPr>
          <a:xfrm>
            <a:off x="1481328" y="1810512"/>
            <a:ext cx="1874519" cy="1783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3657600"/>
            <a:ext cx="297180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FF6724"/>
                </a:solidFill>
                <a:latin typeface="Aptos"/>
              </a:rPr>
              <a:t>70%+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33087"/>
            <a:ext cx="2971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3233B"/>
                </a:solidFill>
                <a:latin typeface="Aptos"/>
              </a:rPr>
              <a:t>Multi-app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4645152"/>
            <a:ext cx="265176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5E6E84"/>
                </a:solidFill>
                <a:latin typeface="Aptos"/>
              </a:rPr>
              <a:t>A neutral app avoids platform lock-in.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91640"/>
            <a:ext cx="3429000" cy="4069080"/>
          </a:xfrm>
          <a:prstGeom prst="roundRect">
            <a:avLst/>
          </a:prstGeom>
          <a:solidFill>
            <a:srgbClr val="F1F6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rider-avatar-2.png"/>
          <p:cNvPicPr>
            <a:picLocks noChangeAspect="1"/>
          </p:cNvPicPr>
          <p:nvPr/>
        </p:nvPicPr>
        <p:blipFill>
          <a:blip r:embed="rId3"/>
          <a:srcRect t="7083" b="7083"/>
          <a:stretch>
            <a:fillRect/>
          </a:stretch>
        </p:blipFill>
        <p:spPr>
          <a:xfrm>
            <a:off x="5276088" y="1810512"/>
            <a:ext cx="1874519" cy="1783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09160" y="3657600"/>
            <a:ext cx="297180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00A4D6"/>
                </a:solidFill>
                <a:latin typeface="Aptos"/>
              </a:rPr>
              <a:t>3–5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133087"/>
            <a:ext cx="2971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3233B"/>
                </a:solidFill>
                <a:latin typeface="Aptos"/>
              </a:rPr>
              <a:t>Decision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4645152"/>
            <a:ext cx="265176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5E6E84"/>
                </a:solidFill>
                <a:latin typeface="Aptos"/>
              </a:rPr>
              <a:t>Nearby choices must appear immediately.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691640"/>
            <a:ext cx="3429000" cy="4069080"/>
          </a:xfrm>
          <a:prstGeom prst="roundRect">
            <a:avLst/>
          </a:prstGeom>
          <a:solidFill>
            <a:srgbClr val="F1F6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rider-avatar-3.png"/>
          <p:cNvPicPr>
            <a:picLocks noChangeAspect="1"/>
          </p:cNvPicPr>
          <p:nvPr/>
        </p:nvPicPr>
        <p:blipFill>
          <a:blip r:embed="rId4"/>
          <a:srcRect t="4295" b="4295"/>
          <a:stretch>
            <a:fillRect/>
          </a:stretch>
        </p:blipFill>
        <p:spPr>
          <a:xfrm>
            <a:off x="9070848" y="1810512"/>
            <a:ext cx="1874519" cy="1783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03920" y="3657600"/>
            <a:ext cx="297180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2BC797"/>
                </a:solidFill>
                <a:latin typeface="Apto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133087"/>
            <a:ext cx="2971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3233B"/>
                </a:solidFill>
                <a:latin typeface="Aptos"/>
              </a:rPr>
              <a:t>Core languages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8" y="4645152"/>
            <a:ext cx="265176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5E6E84"/>
                </a:solidFill>
                <a:latin typeface="Aptos"/>
              </a:rPr>
              <a:t>Visual cues reduce dependence on text.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28816"/>
            <a:ext cx="182880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1">
                <a:solidFill>
                  <a:srgbClr val="5E6E84"/>
                </a:solidFill>
                <a:latin typeface="Aptos"/>
              </a:rPr>
              <a:t>REST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700" b="1">
                <a:solidFill>
                  <a:srgbClr val="FF6724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720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FF6724"/>
                </a:solidFill>
                <a:latin typeface="Aptos"/>
              </a:rPr>
              <a:t>PRODUCT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00" b="1">
                <a:solidFill>
                  <a:srgbClr val="FAFCFF"/>
                </a:solidFill>
                <a:latin typeface="Aptos"/>
              </a:rPr>
              <a:t>One map for every safe rest 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42416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C6D3E1"/>
                </a:solidFill>
                <a:latin typeface="Aptos"/>
              </a:rPr>
              <a:t>Government, public, and commercial locations appear in one rider-first experience.</a:t>
            </a:r>
          </a:p>
        </p:txBody>
      </p:sp>
      <p:pic>
        <p:nvPicPr>
          <p:cNvPr id="6" name="Picture 5" descr="exec-5cb3a9a8-a409-4046-8d3d-ca0c79b12236.png"/>
          <p:cNvPicPr>
            <a:picLocks noChangeAspect="1"/>
          </p:cNvPicPr>
          <p:nvPr/>
        </p:nvPicPr>
        <p:blipFill>
          <a:blip r:embed="rId2"/>
          <a:srcRect t="2778" b="2778"/>
          <a:stretch>
            <a:fillRect/>
          </a:stretch>
        </p:blipFill>
        <p:spPr>
          <a:xfrm>
            <a:off x="6720840" y="1143000"/>
            <a:ext cx="3840480" cy="5440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1847088"/>
            <a:ext cx="5074920" cy="841248"/>
          </a:xfrm>
          <a:prstGeom prst="roundRect">
            <a:avLst/>
          </a:prstGeom>
          <a:solidFill>
            <a:srgbClr val="14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847088"/>
            <a:ext cx="82296" cy="841248"/>
          </a:xfrm>
          <a:prstGeom prst="roundRect">
            <a:avLst/>
          </a:prstGeom>
          <a:solidFill>
            <a:srgbClr val="FF6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19659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1">
                <a:solidFill>
                  <a:srgbClr val="FAFCFF"/>
                </a:solidFill>
                <a:latin typeface="Aptos"/>
              </a:rPr>
              <a:t>Neutral by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956816"/>
            <a:ext cx="2670048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0">
                <a:solidFill>
                  <a:srgbClr val="C6D5E5"/>
                </a:solidFill>
                <a:latin typeface="Aptos"/>
              </a:rPr>
              <a:t>Works across every delivery platform.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990088"/>
            <a:ext cx="5074920" cy="841248"/>
          </a:xfrm>
          <a:prstGeom prst="roundRect">
            <a:avLst/>
          </a:prstGeom>
          <a:solidFill>
            <a:srgbClr val="14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2990088"/>
            <a:ext cx="82296" cy="841248"/>
          </a:xfrm>
          <a:prstGeom prst="roundRect">
            <a:avLst/>
          </a:prstGeom>
          <a:solidFill>
            <a:srgbClr val="00A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19659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1">
                <a:solidFill>
                  <a:srgbClr val="FAFCFF"/>
                </a:solidFill>
                <a:latin typeface="Aptos"/>
              </a:rPr>
              <a:t>Live amenity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099816"/>
            <a:ext cx="2670048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0">
                <a:solidFill>
                  <a:srgbClr val="C6D5E5"/>
                </a:solidFill>
                <a:latin typeface="Aptos"/>
              </a:rPr>
              <a:t>AC, water, charging, parking, crowding.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133087"/>
            <a:ext cx="5074920" cy="841248"/>
          </a:xfrm>
          <a:prstGeom prst="roundRect">
            <a:avLst/>
          </a:prstGeom>
          <a:solidFill>
            <a:srgbClr val="14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8368" y="4133087"/>
            <a:ext cx="82296" cy="841248"/>
          </a:xfrm>
          <a:prstGeom prst="roundRect">
            <a:avLst/>
          </a:prstGeom>
          <a:solidFill>
            <a:srgbClr val="2BC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251959"/>
            <a:ext cx="19659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1">
                <a:solidFill>
                  <a:srgbClr val="FAFCFF"/>
                </a:solidFill>
                <a:latin typeface="Aptos"/>
              </a:rPr>
              <a:t>Verified by riders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4242816"/>
            <a:ext cx="2670048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0">
                <a:solidFill>
                  <a:srgbClr val="C6D5E5"/>
                </a:solidFill>
                <a:latin typeface="Aptos"/>
              </a:rPr>
              <a:t>Fast status reports improve trust.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28816"/>
            <a:ext cx="182880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1">
                <a:solidFill>
                  <a:srgbClr val="B4C3D4"/>
                </a:solidFill>
                <a:latin typeface="Aptos"/>
              </a:rPr>
              <a:t>REST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700" b="1">
                <a:solidFill>
                  <a:srgbClr val="FF6724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720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FF6724"/>
                </a:solidFill>
                <a:latin typeface="Aptos"/>
              </a:rPr>
              <a:t>MVP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00" b="1">
                <a:solidFill>
                  <a:srgbClr val="13233B"/>
                </a:solidFill>
                <a:latin typeface="Aptos"/>
              </a:rPr>
              <a:t>From heat alert to a verified rest 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42416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5E6E84"/>
                </a:solidFill>
                <a:latin typeface="Aptos"/>
              </a:rPr>
              <a:t>A single flow keeps the rider moving while reducing taps and uncertainty.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401568" cy="3127248"/>
          </a:xfrm>
          <a:prstGeom prst="roundRect">
            <a:avLst/>
          </a:prstGeom>
          <a:solidFill>
            <a:srgbClr val="F1F6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59436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00" b="1">
                <a:solidFill>
                  <a:srgbClr val="FF672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7889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1">
                <a:solidFill>
                  <a:srgbClr val="13233B"/>
                </a:solidFill>
                <a:latin typeface="Aptos"/>
              </a:rPr>
              <a:t>See nearby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73552"/>
            <a:ext cx="2697480" cy="6858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5E6E84"/>
                </a:solidFill>
                <a:latin typeface="Aptos"/>
              </a:rPr>
              <a:t>Map opens around the rider with amenity filters.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315968"/>
            <a:ext cx="2788920" cy="73152"/>
          </a:xfrm>
          <a:prstGeom prst="roundRect">
            <a:avLst/>
          </a:prstGeom>
          <a:solidFill>
            <a:srgbClr val="FF6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53128" y="1874519"/>
            <a:ext cx="3401568" cy="3127248"/>
          </a:xfrm>
          <a:prstGeom prst="roundRect">
            <a:avLst/>
          </a:prstGeom>
          <a:solidFill>
            <a:srgbClr val="F1F6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2148840"/>
            <a:ext cx="59436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00" b="1">
                <a:solidFill>
                  <a:srgbClr val="00A4D6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743200"/>
            <a:ext cx="27889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1">
                <a:solidFill>
                  <a:srgbClr val="13233B"/>
                </a:solidFill>
                <a:latin typeface="Aptos"/>
              </a:rPr>
              <a:t>Choose confidently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273552"/>
            <a:ext cx="2697480" cy="6858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5E6E84"/>
                </a:solidFill>
                <a:latin typeface="Aptos"/>
              </a:rPr>
              <a:t>Distance, hours, crowding, and facilities stay visible.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27448" y="4315968"/>
            <a:ext cx="2788920" cy="73152"/>
          </a:xfrm>
          <a:prstGeom prst="roundRect">
            <a:avLst/>
          </a:prstGeom>
          <a:solidFill>
            <a:srgbClr val="00A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0456" y="1874519"/>
            <a:ext cx="3401568" cy="3127248"/>
          </a:xfrm>
          <a:prstGeom prst="roundRect">
            <a:avLst/>
          </a:prstGeom>
          <a:solidFill>
            <a:srgbClr val="F1F6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94776" y="2148840"/>
            <a:ext cx="59436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00" b="1">
                <a:solidFill>
                  <a:srgbClr val="2BC797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2743200"/>
            <a:ext cx="27889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1">
                <a:solidFill>
                  <a:srgbClr val="13233B"/>
                </a:solidFill>
                <a:latin typeface="Aptos"/>
              </a:rPr>
              <a:t>Rest and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3273552"/>
            <a:ext cx="2697480" cy="6858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5E6E84"/>
                </a:solidFill>
                <a:latin typeface="Aptos"/>
              </a:rPr>
              <a:t>One tap confirms status or flags an issue.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94776" y="4315968"/>
            <a:ext cx="2788920" cy="73152"/>
          </a:xfrm>
          <a:prstGeom prst="roundRect">
            <a:avLst/>
          </a:prstGeom>
          <a:solidFill>
            <a:srgbClr val="2BC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" y="5413248"/>
            <a:ext cx="99669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3233B"/>
                </a:solidFill>
                <a:latin typeface="Aptos"/>
              </a:rPr>
              <a:t>Built for one-handed use  •  high contrast  •  six-language navigation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28816"/>
            <a:ext cx="182880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1">
                <a:solidFill>
                  <a:srgbClr val="5E6E84"/>
                </a:solidFill>
                <a:latin typeface="Aptos"/>
              </a:rPr>
              <a:t>REST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700" b="1">
                <a:solidFill>
                  <a:srgbClr val="FF6724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720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FF6724"/>
                </a:solidFill>
                <a:latin typeface="Aptos"/>
              </a:rPr>
              <a:t>DATA AND PARTNERSHIPS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00" b="1">
                <a:solidFill>
                  <a:srgbClr val="13233B"/>
                </a:solidFill>
                <a:latin typeface="Aptos"/>
              </a:rPr>
              <a:t>A shared network makes existing infrastructure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42416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5E6E84"/>
                </a:solidFill>
                <a:latin typeface="Aptos"/>
              </a:rPr>
              <a:t>Rest Point connects trusted public data with rider updates and partner locations.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4846320" cy="868680"/>
          </a:xfrm>
          <a:prstGeom prst="roundRect">
            <a:avLst/>
          </a:prstGeom>
          <a:solidFill>
            <a:srgbClr val="FAFC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4008" cy="868680"/>
          </a:xfrm>
          <a:prstGeom prst="roundRect">
            <a:avLst/>
          </a:prstGeom>
          <a:solidFill>
            <a:srgbClr val="FF6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75104"/>
            <a:ext cx="44348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1">
                <a:solidFill>
                  <a:srgbClr val="13233B"/>
                </a:solidFill>
                <a:latin typeface="Aptos"/>
              </a:rPr>
              <a:t>PUBLIC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77439"/>
            <a:ext cx="4434840" cy="1188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0">
                <a:solidFill>
                  <a:srgbClr val="5E6E84"/>
                </a:solidFill>
                <a:latin typeface="Aptos"/>
              </a:rPr>
              <a:t>AD Mobility shelters and government rest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80360"/>
            <a:ext cx="4846320" cy="868680"/>
          </a:xfrm>
          <a:prstGeom prst="roundRect">
            <a:avLst/>
          </a:prstGeom>
          <a:solidFill>
            <a:srgbClr val="FAFC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2880360"/>
            <a:ext cx="64008" cy="868680"/>
          </a:xfrm>
          <a:prstGeom prst="roundRect">
            <a:avLst/>
          </a:prstGeom>
          <a:solidFill>
            <a:srgbClr val="00A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3118104"/>
            <a:ext cx="44348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1">
                <a:solidFill>
                  <a:srgbClr val="13233B"/>
                </a:solidFill>
                <a:latin typeface="Aptos"/>
              </a:rPr>
              <a:t>PARTNER PLACES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520439"/>
            <a:ext cx="4434840" cy="1188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0">
                <a:solidFill>
                  <a:srgbClr val="5E6E84"/>
                </a:solidFill>
                <a:latin typeface="Aptos"/>
              </a:rPr>
              <a:t>Fuel stations, malls, kitchens, and rider lounges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23360"/>
            <a:ext cx="4846320" cy="868680"/>
          </a:xfrm>
          <a:prstGeom prst="roundRect">
            <a:avLst/>
          </a:prstGeom>
          <a:solidFill>
            <a:srgbClr val="FAFC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4023360"/>
            <a:ext cx="64008" cy="868680"/>
          </a:xfrm>
          <a:prstGeom prst="roundRect">
            <a:avLst/>
          </a:prstGeom>
          <a:solidFill>
            <a:srgbClr val="2BC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4261104"/>
            <a:ext cx="44348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1">
                <a:solidFill>
                  <a:srgbClr val="13233B"/>
                </a:solidFill>
                <a:latin typeface="Aptos"/>
              </a:rPr>
              <a:t>RIDER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663440"/>
            <a:ext cx="4434840" cy="1188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0">
                <a:solidFill>
                  <a:srgbClr val="5E6E84"/>
                </a:solidFill>
                <a:latin typeface="Aptos"/>
              </a:rPr>
              <a:t>Crowding, broken amenities, and open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1874519"/>
            <a:ext cx="1828800" cy="9601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AFCFF"/>
                </a:solidFill>
                <a:latin typeface="Aptos"/>
              </a:rPr>
              <a:t>REST</a:t>
            </a:r>
            <a:br/>
            <a:r>
              <a:rPr sz="2400" b="1">
                <a:solidFill>
                  <a:srgbClr val="FAFCFF"/>
                </a:solidFill>
                <a:latin typeface="Aptos"/>
              </a:rPr>
              <a:t>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56832" y="1572768"/>
            <a:ext cx="2286000" cy="1600200"/>
          </a:xfrm>
          <a:prstGeom prst="roundRect">
            <a:avLst/>
          </a:prstGeom>
          <a:solidFill>
            <a:srgbClr val="0B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76288" y="1874519"/>
            <a:ext cx="1828800" cy="9601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AFCFF"/>
                </a:solidFill>
                <a:latin typeface="Aptos"/>
              </a:rPr>
              <a:t>REST</a:t>
            </a:r>
            <a:br/>
            <a:r>
              <a:rPr sz="2400" b="1">
                <a:solidFill>
                  <a:srgbClr val="FAFCFF"/>
                </a:solidFill>
                <a:latin typeface="Aptos"/>
              </a:rPr>
              <a:t>POINT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2472" y="3858768"/>
            <a:ext cx="1417320" cy="941832"/>
          </a:xfrm>
          <a:prstGeom prst="roundRect">
            <a:avLst/>
          </a:prstGeom>
          <a:solidFill>
            <a:srgbClr val="FAFC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53912" y="4041648"/>
            <a:ext cx="123444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6724"/>
                </a:solidFill>
                <a:latin typeface="Aptos"/>
              </a:rPr>
              <a:t>MAP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35824" y="3858768"/>
            <a:ext cx="1417320" cy="941832"/>
          </a:xfrm>
          <a:prstGeom prst="roundRect">
            <a:avLst/>
          </a:prstGeom>
          <a:solidFill>
            <a:srgbClr val="FAFC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27264" y="4041648"/>
            <a:ext cx="123444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0A4D6"/>
                </a:solidFill>
                <a:latin typeface="Aptos"/>
              </a:rPr>
              <a:t>ALERTS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09176" y="3858768"/>
            <a:ext cx="1417320" cy="941832"/>
          </a:xfrm>
          <a:prstGeom prst="roundRect">
            <a:avLst/>
          </a:prstGeom>
          <a:solidFill>
            <a:srgbClr val="FAFC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0615" y="4041648"/>
            <a:ext cx="123444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2BC797"/>
                </a:solidFill>
                <a:latin typeface="Aptos"/>
              </a:rPr>
              <a:t>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0448" y="5138928"/>
            <a:ext cx="516636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3233B"/>
                </a:solidFill>
                <a:latin typeface="Aptos"/>
              </a:rPr>
              <a:t>One reliable data layer for workers, operators, and public agencies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28816"/>
            <a:ext cx="182880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1">
                <a:solidFill>
                  <a:srgbClr val="5E6E84"/>
                </a:solidFill>
                <a:latin typeface="Aptos"/>
              </a:rPr>
              <a:t>REST 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700" b="1">
                <a:solidFill>
                  <a:srgbClr val="FF6724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720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FF6724"/>
                </a:solidFill>
                <a:latin typeface="Aptos"/>
              </a:rPr>
              <a:t>SUSTAINABLE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00" b="1">
                <a:solidFill>
                  <a:srgbClr val="13233B"/>
                </a:solidFill>
                <a:latin typeface="Aptos"/>
              </a:rPr>
              <a:t>Free for riders, funded by institutions and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42416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5E6E84"/>
                </a:solidFill>
                <a:latin typeface="Aptos"/>
              </a:rPr>
              <a:t>Revenue supports coverage, verification, and safer operations without charging workers.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429000" cy="3611880"/>
          </a:xfrm>
          <a:prstGeom prst="roundRect">
            <a:avLst/>
          </a:prstGeom>
          <a:solidFill>
            <a:srgbClr val="F1F6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1005840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FF6724"/>
                </a:solidFill>
                <a:latin typeface="Aptos"/>
              </a:rPr>
              <a:t>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95728"/>
            <a:ext cx="274320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1">
                <a:solidFill>
                  <a:srgbClr val="13233B"/>
                </a:solidFill>
                <a:latin typeface="Aptos"/>
              </a:rPr>
              <a:t>Impact grants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99232"/>
            <a:ext cx="2743200" cy="6858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5E6E84"/>
                </a:solidFill>
                <a:latin typeface="Aptos"/>
              </a:rPr>
              <a:t>Pilot mapping and rider research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187952"/>
            <a:ext cx="2852928" cy="566928"/>
          </a:xfrm>
          <a:prstGeom prst="roundRect">
            <a:avLst/>
          </a:prstGeom>
          <a:solidFill>
            <a:srgbClr val="FF6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4297680"/>
            <a:ext cx="26334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AFCFF"/>
                </a:solidFill>
                <a:latin typeface="Aptos"/>
              </a:rPr>
              <a:t>Ma’an / civic innovation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737360"/>
            <a:ext cx="3429000" cy="3611880"/>
          </a:xfrm>
          <a:prstGeom prst="roundRect">
            <a:avLst/>
          </a:prstGeom>
          <a:solidFill>
            <a:srgbClr val="F1F6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1993392"/>
            <a:ext cx="1005840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00A4D6"/>
                </a:solidFill>
                <a:latin typeface="Aptos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395728"/>
            <a:ext cx="274320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1">
                <a:solidFill>
                  <a:srgbClr val="13233B"/>
                </a:solidFill>
                <a:latin typeface="Aptos"/>
              </a:rPr>
              <a:t>Fleet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999232"/>
            <a:ext cx="2743200" cy="6858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5E6E84"/>
                </a:solidFill>
                <a:latin typeface="Aptos"/>
              </a:rPr>
              <a:t>Heat-safety and usage insights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4187952"/>
            <a:ext cx="2852928" cy="566928"/>
          </a:xfrm>
          <a:prstGeom prst="roundRect">
            <a:avLst/>
          </a:prstGeom>
          <a:solidFill>
            <a:srgbClr val="00A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64608" y="4297680"/>
            <a:ext cx="26334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AFCFF"/>
                </a:solidFill>
                <a:latin typeface="Aptos"/>
              </a:rPr>
              <a:t>B2B subscription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737360"/>
            <a:ext cx="3429000" cy="3611880"/>
          </a:xfrm>
          <a:prstGeom prst="roundRect">
            <a:avLst/>
          </a:prstGeom>
          <a:solidFill>
            <a:srgbClr val="F1F6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9640" y="1993392"/>
            <a:ext cx="1005840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2BC797"/>
                </a:solidFill>
                <a:latin typeface="Aptos"/>
              </a:rPr>
              <a:t>EXTEND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395728"/>
            <a:ext cx="274320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1">
                <a:solidFill>
                  <a:srgbClr val="13233B"/>
                </a:solidFill>
                <a:latin typeface="Aptos"/>
              </a:rPr>
              <a:t>Partner offers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999232"/>
            <a:ext cx="2743200" cy="6858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5E6E84"/>
                </a:solidFill>
                <a:latin typeface="Aptos"/>
              </a:rPr>
              <a:t>Relevant discounts near rest points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4187952"/>
            <a:ext cx="2852928" cy="566928"/>
          </a:xfrm>
          <a:prstGeom prst="roundRect">
            <a:avLst/>
          </a:prstGeom>
          <a:solidFill>
            <a:srgbClr val="2BC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59368" y="4297680"/>
            <a:ext cx="26334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AFCFF"/>
                </a:solidFill>
                <a:latin typeface="Aptos"/>
              </a:rPr>
              <a:t>Sponsored placement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715000"/>
            <a:ext cx="996696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3233B"/>
                </a:solidFill>
                <a:latin typeface="Aptos"/>
              </a:rPr>
              <a:t>Principle: commercial value comes from safety infrastructure, never rider access.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28816"/>
            <a:ext cx="182880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1">
                <a:solidFill>
                  <a:srgbClr val="5E6E84"/>
                </a:solidFill>
                <a:latin typeface="Aptos"/>
              </a:rPr>
              <a:t>REST 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700" b="1">
                <a:solidFill>
                  <a:srgbClr val="FF6724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xec-5d9ca318-fd87-47c1-a089-11ea3aa7fe4b.png"/>
          <p:cNvPicPr>
            <a:picLocks noChangeAspect="1"/>
          </p:cNvPicPr>
          <p:nvPr/>
        </p:nvPicPr>
        <p:blipFill>
          <a:blip r:embed="rId2"/>
          <a:srcRect l="23436" r="23436"/>
          <a:stretch>
            <a:fillRect/>
          </a:stretch>
        </p:blipFill>
        <p:spPr>
          <a:xfrm>
            <a:off x="5715000" y="0"/>
            <a:ext cx="6473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49824" y="0"/>
            <a:ext cx="384048" cy="6858000"/>
          </a:xfrm>
          <a:prstGeom prst="rect">
            <a:avLst/>
          </a:prstGeom>
          <a:solidFill>
            <a:srgbClr val="0B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484632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FF6724"/>
                </a:solidFill>
                <a:latin typeface="Aptos"/>
              </a:rPr>
              <a:t>PROACTIVE HEALTH SAFEGUARDS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4892040" cy="9601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00" b="1">
                <a:solidFill>
                  <a:srgbClr val="FAFCFF"/>
                </a:solidFill>
                <a:latin typeface="Aptos"/>
              </a:rPr>
              <a:t>Heat protection that acts</a:t>
            </a:r>
            <a:br/>
            <a:r>
              <a:rPr sz="2500" b="1">
                <a:solidFill>
                  <a:srgbClr val="FAFCFF"/>
                </a:solidFill>
                <a:latin typeface="Aptos"/>
              </a:rPr>
              <a:t>before a rider feels unwell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21992"/>
            <a:ext cx="475488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00" b="0">
                <a:solidFill>
                  <a:srgbClr val="D2DFEC"/>
                </a:solidFill>
                <a:latin typeface="Aptos"/>
              </a:rPr>
              <a:t>When conditions cross the safety threshold, the app finds a nearby cooling option and keeps the route simple.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182112"/>
            <a:ext cx="1417320" cy="1335024"/>
          </a:xfrm>
          <a:prstGeom prst="roundRect">
            <a:avLst/>
          </a:prstGeom>
          <a:solidFill>
            <a:srgbClr val="14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3401568"/>
            <a:ext cx="1197864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6724"/>
                </a:solidFill>
                <a:latin typeface="Aptos"/>
              </a:rPr>
              <a:t>42°C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858768"/>
            <a:ext cx="1197864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AFCFF"/>
                </a:solidFill>
                <a:latin typeface="Aptos"/>
              </a:rPr>
              <a:t>Weather threshold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3182112"/>
            <a:ext cx="1417320" cy="1335024"/>
          </a:xfrm>
          <a:prstGeom prst="roundRect">
            <a:avLst/>
          </a:prstGeom>
          <a:solidFill>
            <a:srgbClr val="14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87168" y="3401568"/>
            <a:ext cx="1197864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0A4D6"/>
                </a:solidFill>
                <a:latin typeface="Aptos"/>
              </a:rPr>
              <a:t>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3858768"/>
            <a:ext cx="1197864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AFCFF"/>
                </a:solidFill>
                <a:latin typeface="Aptos"/>
              </a:rPr>
              <a:t>Nearest safe stop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3182112"/>
            <a:ext cx="1417320" cy="1335024"/>
          </a:xfrm>
          <a:prstGeom prst="roundRect">
            <a:avLst/>
          </a:prstGeom>
          <a:solidFill>
            <a:srgbClr val="14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87368" y="3401568"/>
            <a:ext cx="1197864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2BC797"/>
                </a:solidFill>
                <a:latin typeface="Aptos"/>
              </a:rPr>
              <a:t>1 tap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7368" y="3858768"/>
            <a:ext cx="1197864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AFCFF"/>
                </a:solidFill>
                <a:latin typeface="Aptos"/>
              </a:rPr>
              <a:t>Start navigation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4773168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FAFCFF"/>
                </a:solidFill>
                <a:latin typeface="Aptos"/>
              </a:rPr>
              <a:t>Localized alerts  •  low-data mode  •  clear return-to-work guidance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28816"/>
            <a:ext cx="182880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1">
                <a:solidFill>
                  <a:srgbClr val="B4C3D4"/>
                </a:solidFill>
                <a:latin typeface="Aptos"/>
              </a:rPr>
              <a:t>REST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700" b="1">
                <a:solidFill>
                  <a:srgbClr val="FF6724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720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FF6724"/>
                </a:solidFill>
                <a:latin typeface="Aptos"/>
              </a:rPr>
              <a:t>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00" b="1">
                <a:solidFill>
                  <a:srgbClr val="13233B"/>
                </a:solidFill>
                <a:latin typeface="Aptos"/>
              </a:rPr>
              <a:t>A focused path from pilot to UAE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42416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5E6E84"/>
                </a:solidFill>
                <a:latin typeface="Aptos"/>
              </a:rPr>
              <a:t>Each phase adds data depth before geographic expansion.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" y="2962656"/>
            <a:ext cx="10104120" cy="91440"/>
          </a:xfrm>
          <a:prstGeom prst="roundRect">
            <a:avLst/>
          </a:prstGeom>
          <a:solidFill>
            <a:srgbClr val="DC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3401568" cy="3429000"/>
          </a:xfrm>
          <a:prstGeom prst="roundRect">
            <a:avLst/>
          </a:prstGeom>
          <a:solidFill>
            <a:srgbClr val="FAFC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502920" cy="502920"/>
          </a:xfrm>
          <a:prstGeom prst="roundRect">
            <a:avLst/>
          </a:prstGeom>
          <a:solidFill>
            <a:srgbClr val="FF6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029968"/>
            <a:ext cx="914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FF6724"/>
                </a:solidFill>
                <a:latin typeface="Aptos"/>
              </a:rPr>
              <a:t>Q1–Q2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04288"/>
            <a:ext cx="27432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00" b="1">
                <a:solidFill>
                  <a:srgbClr val="13233B"/>
                </a:solidFill>
                <a:latin typeface="Aptos"/>
              </a:rPr>
              <a:t>Abu Dhabi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29584"/>
            <a:ext cx="274320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0">
                <a:solidFill>
                  <a:srgbClr val="5E6E84"/>
                </a:solidFill>
                <a:latin typeface="Aptos"/>
              </a:rPr>
              <a:t>Rabdan, Shakhbout City, and Khalifa 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325112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>
                <a:solidFill>
                  <a:srgbClr val="FF6724"/>
                </a:solidFill>
                <a:latin typeface="Aptos"/>
              </a:rPr>
              <a:t>Map  /  verify  /  learn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755648"/>
            <a:ext cx="3401568" cy="3429000"/>
          </a:xfrm>
          <a:prstGeom prst="roundRect">
            <a:avLst/>
          </a:prstGeom>
          <a:solidFill>
            <a:srgbClr val="FAFC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36592" y="2743200"/>
            <a:ext cx="502920" cy="502920"/>
          </a:xfrm>
          <a:prstGeom prst="roundRect">
            <a:avLst/>
          </a:prstGeom>
          <a:solidFill>
            <a:srgbClr val="00A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79" y="2029968"/>
            <a:ext cx="914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00A4D6"/>
                </a:solidFill>
                <a:latin typeface="Aptos"/>
              </a:rPr>
              <a:t>Q3–Q4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304288"/>
            <a:ext cx="27432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00" b="1">
                <a:solidFill>
                  <a:srgbClr val="13233B"/>
                </a:solidFill>
                <a:latin typeface="Aptos"/>
              </a:rPr>
              <a:t>Partner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3529584"/>
            <a:ext cx="274320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0">
                <a:solidFill>
                  <a:srgbClr val="5E6E84"/>
                </a:solidFill>
                <a:latin typeface="Aptos"/>
              </a:rPr>
              <a:t>ADNOC-style hubs and fleet dashboards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4325112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>
                <a:solidFill>
                  <a:srgbClr val="00A4D6"/>
                </a:solidFill>
                <a:latin typeface="Aptos"/>
              </a:rPr>
              <a:t>Connect  /  measure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1755648"/>
            <a:ext cx="3401568" cy="3429000"/>
          </a:xfrm>
          <a:prstGeom prst="roundRect">
            <a:avLst/>
          </a:prstGeom>
          <a:solidFill>
            <a:srgbClr val="FAFC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558784" y="2743200"/>
            <a:ext cx="502920" cy="502920"/>
          </a:xfrm>
          <a:prstGeom prst="roundRect">
            <a:avLst/>
          </a:prstGeom>
          <a:solidFill>
            <a:srgbClr val="2BC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77072" y="2029968"/>
            <a:ext cx="914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2BC797"/>
                </a:solidFill>
                <a:latin typeface="Aptos"/>
              </a:rPr>
              <a:t>YEAR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2304288"/>
            <a:ext cx="27432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00" b="1">
                <a:solidFill>
                  <a:srgbClr val="13233B"/>
                </a:solidFill>
                <a:latin typeface="Aptos"/>
              </a:rPr>
              <a:t>UAE expansion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3529584"/>
            <a:ext cx="274320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0">
                <a:solidFill>
                  <a:srgbClr val="5E6E84"/>
                </a:solidFill>
                <a:latin typeface="Aptos"/>
              </a:rPr>
              <a:t>Dubai, Sharjah, and Northern Emirates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4325112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>
                <a:solidFill>
                  <a:srgbClr val="2BC797"/>
                </a:solidFill>
                <a:latin typeface="Aptos"/>
              </a:rPr>
              <a:t>Replicate  /  localize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28816"/>
            <a:ext cx="182880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1">
                <a:solidFill>
                  <a:srgbClr val="5E6E84"/>
                </a:solidFill>
                <a:latin typeface="Aptos"/>
              </a:rPr>
              <a:t>REST 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700" b="1">
                <a:solidFill>
                  <a:srgbClr val="FF6724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ider-avatar-4.png"/>
          <p:cNvPicPr>
            <a:picLocks noChangeAspect="1"/>
          </p:cNvPicPr>
          <p:nvPr/>
        </p:nvPicPr>
        <p:blipFill>
          <a:blip r:embed="rId2"/>
          <a:srcRect l="14726" r="14726"/>
          <a:stretch>
            <a:fillRect/>
          </a:stretch>
        </p:blipFill>
        <p:spPr>
          <a:xfrm>
            <a:off x="7360920" y="640080"/>
            <a:ext cx="3749039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804672"/>
            <a:ext cx="2926080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>
                <a:solidFill>
                  <a:srgbClr val="FF6724"/>
                </a:solidFill>
                <a:latin typeface="Aptos"/>
              </a:rPr>
              <a:t>THE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6263640" cy="12984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3100" b="1">
                <a:solidFill>
                  <a:srgbClr val="FAFCFF"/>
                </a:solidFill>
                <a:latin typeface="Aptos"/>
              </a:rPr>
              <a:t>Build Abu Dhabi’s</a:t>
            </a:r>
            <a:br/>
            <a:r>
              <a:rPr sz="3100" b="1">
                <a:solidFill>
                  <a:srgbClr val="FAFCFF"/>
                </a:solidFill>
                <a:latin typeface="Aptos"/>
              </a:rPr>
              <a:t>shared rest network.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16352"/>
            <a:ext cx="5989320" cy="7498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0">
                <a:solidFill>
                  <a:srgbClr val="CBDAE8"/>
                </a:solidFill>
                <a:latin typeface="Aptos"/>
              </a:rPr>
              <a:t>We are seeking pilot partners, public-data access, and seed support for rider testing.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977639"/>
            <a:ext cx="2011680" cy="566928"/>
          </a:xfrm>
          <a:prstGeom prst="roundRect">
            <a:avLst/>
          </a:prstGeom>
          <a:solidFill>
            <a:srgbClr val="FF6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105656"/>
            <a:ext cx="1645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AFCFF"/>
                </a:solidFill>
                <a:latin typeface="Aptos"/>
              </a:rPr>
              <a:t>PILOT WITH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4105656"/>
            <a:ext cx="18288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1">
                <a:solidFill>
                  <a:srgbClr val="FAFCFF"/>
                </a:solidFill>
                <a:latin typeface="Aptos"/>
              </a:rPr>
              <a:t>restpoint.ae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212080"/>
            <a:ext cx="630936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1">
                <a:solidFill>
                  <a:srgbClr val="00A4D6"/>
                </a:solidFill>
                <a:latin typeface="Aptos"/>
              </a:rPr>
              <a:t>Safer shifts. Better infrastructure use. Dignified rest.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28816"/>
            <a:ext cx="182880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1">
                <a:solidFill>
                  <a:srgbClr val="B4C3D4"/>
                </a:solidFill>
                <a:latin typeface="Aptos"/>
              </a:rPr>
              <a:t>REST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700" b="1">
                <a:solidFill>
                  <a:srgbClr val="FF672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720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FF6724"/>
                </a:solidFill>
                <a:latin typeface="Aptos"/>
              </a:rPr>
              <a:t>APP VISUAL 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00" b="1">
                <a:solidFill>
                  <a:srgbClr val="13233B"/>
                </a:solidFill>
                <a:latin typeface="Aptos"/>
              </a:rPr>
              <a:t>A reusable identity built for 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42416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5E6E84"/>
                </a:solidFill>
                <a:latin typeface="Aptos"/>
              </a:rPr>
              <a:t>The deck and app share the same character style, palette, and visual cues.</a:t>
            </a:r>
          </a:p>
        </p:txBody>
      </p:sp>
      <p:pic>
        <p:nvPicPr>
          <p:cNvPr id="6" name="Picture 5" descr="rider-avatar-1.png"/>
          <p:cNvPicPr>
            <a:picLocks noChangeAspect="1"/>
          </p:cNvPicPr>
          <p:nvPr/>
        </p:nvPicPr>
        <p:blipFill>
          <a:blip r:embed="rId2"/>
          <a:srcRect t="1635" b="1635"/>
          <a:stretch>
            <a:fillRect/>
          </a:stretch>
        </p:blipFill>
        <p:spPr>
          <a:xfrm>
            <a:off x="640080" y="1508760"/>
            <a:ext cx="1280160" cy="1298448"/>
          </a:xfrm>
          <a:prstGeom prst="rect">
            <a:avLst/>
          </a:prstGeom>
        </p:spPr>
      </p:pic>
      <p:pic>
        <p:nvPicPr>
          <p:cNvPr id="7" name="Picture 6" descr="rider-avatar-2.png"/>
          <p:cNvPicPr>
            <a:picLocks noChangeAspect="1"/>
          </p:cNvPicPr>
          <p:nvPr/>
        </p:nvPicPr>
        <p:blipFill>
          <a:blip r:embed="rId3"/>
          <a:srcRect t="4238" b="4238"/>
          <a:stretch>
            <a:fillRect/>
          </a:stretch>
        </p:blipFill>
        <p:spPr>
          <a:xfrm>
            <a:off x="2084832" y="1508760"/>
            <a:ext cx="1280160" cy="1298448"/>
          </a:xfrm>
          <a:prstGeom prst="rect">
            <a:avLst/>
          </a:prstGeom>
        </p:spPr>
      </p:pic>
      <p:pic>
        <p:nvPicPr>
          <p:cNvPr id="8" name="Picture 7" descr="rider-avatar-3.png"/>
          <p:cNvPicPr>
            <a:picLocks noChangeAspect="1"/>
          </p:cNvPicPr>
          <p:nvPr/>
        </p:nvPicPr>
        <p:blipFill>
          <a:blip r:embed="rId4"/>
          <a:srcRect t="1265" b="1265"/>
          <a:stretch>
            <a:fillRect/>
          </a:stretch>
        </p:blipFill>
        <p:spPr>
          <a:xfrm>
            <a:off x="3529584" y="1508760"/>
            <a:ext cx="1280160" cy="1298448"/>
          </a:xfrm>
          <a:prstGeom prst="rect">
            <a:avLst/>
          </a:prstGeom>
        </p:spPr>
      </p:pic>
      <p:pic>
        <p:nvPicPr>
          <p:cNvPr id="9" name="Picture 8" descr="rider-avatar-4.png"/>
          <p:cNvPicPr>
            <a:picLocks noChangeAspect="1"/>
          </p:cNvPicPr>
          <p:nvPr/>
        </p:nvPicPr>
        <p:blipFill>
          <a:blip r:embed="rId5"/>
          <a:srcRect t="45" b="45"/>
          <a:stretch>
            <a:fillRect/>
          </a:stretch>
        </p:blipFill>
        <p:spPr>
          <a:xfrm>
            <a:off x="4974336" y="1508760"/>
            <a:ext cx="1280160" cy="12984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2898648"/>
            <a:ext cx="539496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>
                <a:solidFill>
                  <a:srgbClr val="13233B"/>
                </a:solidFill>
                <a:latin typeface="Aptos"/>
              </a:rPr>
              <a:t>RIDER AVATARS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82112"/>
            <a:ext cx="539496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0">
                <a:solidFill>
                  <a:srgbClr val="5E6E84"/>
                </a:solidFill>
                <a:latin typeface="Aptos"/>
              </a:rPr>
              <a:t>Profile images, report attribution, onboarding, and multilingual help.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050791"/>
            <a:ext cx="1207008" cy="640080"/>
          </a:xfrm>
          <a:prstGeom prst="roundRect">
            <a:avLst/>
          </a:prstGeom>
          <a:solidFill>
            <a:srgbClr val="0B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4782312"/>
            <a:ext cx="12070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3233B"/>
                </a:solidFill>
                <a:latin typeface="Aptos"/>
              </a:rPr>
              <a:t>NAVY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992624"/>
            <a:ext cx="12070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E6E84"/>
                </a:solidFill>
                <a:latin typeface="Aptos"/>
              </a:rPr>
              <a:t>#0B1830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75688" y="4050791"/>
            <a:ext cx="1207008" cy="640080"/>
          </a:xfrm>
          <a:prstGeom prst="roundRect">
            <a:avLst/>
          </a:prstGeom>
          <a:solidFill>
            <a:srgbClr val="FF6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75688" y="4782312"/>
            <a:ext cx="12070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3233B"/>
                </a:solidFill>
                <a:latin typeface="Aptos"/>
              </a:rPr>
              <a:t>ORANGE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75688" y="4992624"/>
            <a:ext cx="12070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E6E84"/>
                </a:solidFill>
                <a:latin typeface="Aptos"/>
              </a:rPr>
              <a:t>#FF6724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3008" y="4050791"/>
            <a:ext cx="1207008" cy="640080"/>
          </a:xfrm>
          <a:prstGeom prst="roundRect">
            <a:avLst/>
          </a:prstGeom>
          <a:solidFill>
            <a:srgbClr val="00A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93008" y="4782312"/>
            <a:ext cx="12070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3233B"/>
                </a:solidFill>
                <a:latin typeface="Aptos"/>
              </a:rPr>
              <a:t>CYAN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4992624"/>
            <a:ext cx="12070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E6E84"/>
                </a:solidFill>
                <a:latin typeface="Aptos"/>
              </a:rPr>
              <a:t>#00A4D6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10328" y="4050791"/>
            <a:ext cx="1207008" cy="640080"/>
          </a:xfrm>
          <a:prstGeom prst="roundRect">
            <a:avLst/>
          </a:prstGeom>
          <a:solidFill>
            <a:srgbClr val="2BC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10328" y="4782312"/>
            <a:ext cx="12070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3233B"/>
                </a:solidFill>
                <a:latin typeface="Aptos"/>
              </a:rPr>
              <a:t>MINT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0328" y="4992624"/>
            <a:ext cx="12070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E6E84"/>
                </a:solidFill>
                <a:latin typeface="Aptos"/>
              </a:rPr>
              <a:t>#2BC797</a:t>
            </a:r>
          </a:p>
        </p:txBody>
      </p:sp>
      <p:pic>
        <p:nvPicPr>
          <p:cNvPr id="24" name="Picture 23" descr="exec-5cb3a9a8-a409-4046-8d3d-ca0c79b12236.png"/>
          <p:cNvPicPr>
            <a:picLocks noChangeAspect="1"/>
          </p:cNvPicPr>
          <p:nvPr/>
        </p:nvPicPr>
        <p:blipFill>
          <a:blip r:embed="rId6"/>
          <a:srcRect l="1316" r="1316"/>
          <a:stretch>
            <a:fillRect/>
          </a:stretch>
        </p:blipFill>
        <p:spPr>
          <a:xfrm>
            <a:off x="7178040" y="1143000"/>
            <a:ext cx="3383280" cy="52120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4360" y="6528816"/>
            <a:ext cx="182880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1">
                <a:solidFill>
                  <a:srgbClr val="5E6E84"/>
                </a:solidFill>
                <a:latin typeface="Aptos"/>
              </a:rPr>
              <a:t>REST 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700" b="1">
                <a:solidFill>
                  <a:srgbClr val="FF672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720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FF6724"/>
                </a:solidFill>
                <a:latin typeface="Aptos"/>
              </a:rPr>
              <a:t>PRODUCT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00" b="1">
                <a:solidFill>
                  <a:srgbClr val="13233B"/>
                </a:solidFill>
                <a:latin typeface="Aptos"/>
              </a:rPr>
              <a:t>Interface rules that survive real-world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42416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5E6E84"/>
                </a:solidFill>
                <a:latin typeface="Aptos"/>
              </a:rPr>
              <a:t>The system prioritizes speed, heat-glare readability, and simple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230368" cy="1508760"/>
          </a:xfrm>
          <a:prstGeom prst="roundRect">
            <a:avLst/>
          </a:prstGeom>
          <a:solidFill>
            <a:srgbClr val="FAFC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41832" y="1965960"/>
            <a:ext cx="502920" cy="502920"/>
          </a:xfrm>
          <a:prstGeom prst="roundRect">
            <a:avLst/>
          </a:prstGeom>
          <a:solidFill>
            <a:srgbClr val="FF6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965960"/>
            <a:ext cx="5029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AFC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29384"/>
            <a:ext cx="393192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00" b="1">
                <a:solidFill>
                  <a:srgbClr val="13233B"/>
                </a:solidFill>
                <a:latin typeface="Aptos"/>
              </a:rPr>
              <a:t>Large touch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68296"/>
            <a:ext cx="3794760" cy="5120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0">
                <a:solidFill>
                  <a:srgbClr val="5E6E84"/>
                </a:solidFill>
                <a:latin typeface="Aptos"/>
              </a:rPr>
              <a:t>Primary actions stay easy to hit with gloves or one hand.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1691640"/>
            <a:ext cx="5230368" cy="1508760"/>
          </a:xfrm>
          <a:prstGeom prst="roundRect">
            <a:avLst/>
          </a:prstGeom>
          <a:solidFill>
            <a:srgbClr val="FAFC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92824" y="1965960"/>
            <a:ext cx="502920" cy="502920"/>
          </a:xfrm>
          <a:prstGeom prst="roundRect">
            <a:avLst/>
          </a:prstGeom>
          <a:solidFill>
            <a:srgbClr val="00A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92824" y="1965960"/>
            <a:ext cx="5029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AFC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912" y="1929384"/>
            <a:ext cx="393192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00" b="1">
                <a:solidFill>
                  <a:srgbClr val="13233B"/>
                </a:solidFill>
                <a:latin typeface="Aptos"/>
              </a:rPr>
              <a:t>Color plus 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2368296"/>
            <a:ext cx="3794760" cy="5120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0">
                <a:solidFill>
                  <a:srgbClr val="5E6E84"/>
                </a:solidFill>
                <a:latin typeface="Aptos"/>
              </a:rPr>
              <a:t>Status never depends on color alone.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30168"/>
            <a:ext cx="5230368" cy="1508760"/>
          </a:xfrm>
          <a:prstGeom prst="roundRect">
            <a:avLst/>
          </a:prstGeom>
          <a:solidFill>
            <a:srgbClr val="FAFC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1832" y="3904488"/>
            <a:ext cx="502920" cy="502920"/>
          </a:xfrm>
          <a:prstGeom prst="roundRect">
            <a:avLst/>
          </a:prstGeom>
          <a:solidFill>
            <a:srgbClr val="2BC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3904488"/>
            <a:ext cx="5029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AFC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867912"/>
            <a:ext cx="393192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00" b="1">
                <a:solidFill>
                  <a:srgbClr val="13233B"/>
                </a:solidFill>
                <a:latin typeface="Aptos"/>
              </a:rPr>
              <a:t>Essential data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06824"/>
            <a:ext cx="3794760" cy="5120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0">
                <a:solidFill>
                  <a:srgbClr val="5E6E84"/>
                </a:solidFill>
                <a:latin typeface="Aptos"/>
              </a:rPr>
              <a:t>Distance, open status, and cooling facilities lead.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6792" y="3630168"/>
            <a:ext cx="5230368" cy="1508760"/>
          </a:xfrm>
          <a:prstGeom prst="roundRect">
            <a:avLst/>
          </a:prstGeom>
          <a:solidFill>
            <a:srgbClr val="FAFC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92824" y="3904488"/>
            <a:ext cx="502920" cy="502920"/>
          </a:xfrm>
          <a:prstGeom prst="roundRect">
            <a:avLst/>
          </a:prstGeom>
          <a:solidFill>
            <a:srgbClr val="FF6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92824" y="3904488"/>
            <a:ext cx="5029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AFC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3867912"/>
            <a:ext cx="393192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500" b="1">
                <a:solidFill>
                  <a:srgbClr val="13233B"/>
                </a:solidFill>
                <a:latin typeface="Aptos"/>
              </a:rPr>
              <a:t>One-tap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4306824"/>
            <a:ext cx="3794760" cy="5120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0">
                <a:solidFill>
                  <a:srgbClr val="5E6E84"/>
                </a:solidFill>
                <a:latin typeface="Aptos"/>
              </a:rPr>
              <a:t>Riders can flag issues without typing.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715000"/>
            <a:ext cx="996696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3233B"/>
                </a:solidFill>
                <a:latin typeface="Aptos"/>
              </a:rPr>
              <a:t>Designed for outdoor conditions, short attention windows, and multilingual use.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28816"/>
            <a:ext cx="182880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1">
                <a:solidFill>
                  <a:srgbClr val="5E6E84"/>
                </a:solidFill>
                <a:latin typeface="Aptos"/>
              </a:rPr>
              <a:t>REST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700" b="1">
                <a:solidFill>
                  <a:srgbClr val="FF672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720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FF6724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00" b="1">
                <a:solidFill>
                  <a:srgbClr val="FAFCFF"/>
                </a:solidFill>
                <a:latin typeface="Aptos"/>
              </a:rPr>
              <a:t>Image sources and concept-art 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>
                <a:solidFill>
                  <a:srgbClr val="FF6724"/>
                </a:solidFill>
                <a:latin typeface="Aptos"/>
              </a:rPr>
              <a:t>SOURCE PHOTOGRAPHY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56231"/>
            <a:ext cx="10698480" cy="11887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yallaabudhabi.ae – “Rest Stops for Delivery Riders in Abu Dhabi”</a:t>
            </a:r>
            <a:br/>
            <a:br/>
            <a:r>
              <a:rPr sz="1200" b="0">
                <a:solidFill>
                  <a:srgbClr val="FAFCFF"/>
                </a:solidFill>
                <a:latin typeface="Aptos"/>
              </a:rPr>
              <a:t>gccbusinessnews.com – “ITC unveils rest stops for delivery bike riders”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401568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>
                <a:solidFill>
                  <a:srgbClr val="00A4D6"/>
                </a:solidFill>
                <a:latin typeface="Aptos"/>
              </a:rPr>
              <a:t>ORIGINAL CONCEPT 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67328"/>
            <a:ext cx="10607040" cy="9601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00" b="0">
                <a:solidFill>
                  <a:srgbClr val="CFDDEA"/>
                </a:solidFill>
                <a:latin typeface="Aptos"/>
              </a:rPr>
              <a:t>Rider avatars, product-map mockup, and cooling-station hero were created for this Rest Point concept. Treat the mock map as a design reference, not verified navigation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074920"/>
            <a:ext cx="1069848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1">
                <a:solidFill>
                  <a:srgbClr val="FAFCFF"/>
                </a:solidFill>
                <a:latin typeface="Aptos"/>
              </a:rPr>
              <a:t>Before production: validate every facility, operating hour, temperature threshold, language translation, and routing result with the responsible authority.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28816"/>
            <a:ext cx="182880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1">
                <a:solidFill>
                  <a:srgbClr val="B4C3D4"/>
                </a:solidFill>
                <a:latin typeface="Aptos"/>
              </a:rPr>
              <a:t>REST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700" b="1">
                <a:solidFill>
                  <a:srgbClr val="FF6724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872</Words>
  <Application>Microsoft Macintosh PowerPoint</Application>
  <PresentationFormat>Widescreen</PresentationFormat>
  <Paragraphs>181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Mitha Albalushi</cp:lastModifiedBy>
  <cp:revision>2</cp:revision>
  <dcterms:created xsi:type="dcterms:W3CDTF">2013-01-27T09:14:16Z</dcterms:created>
  <dcterms:modified xsi:type="dcterms:W3CDTF">2026-09-20T12:45:45Z</dcterms:modified>
  <cp:category/>
</cp:coreProperties>
</file>